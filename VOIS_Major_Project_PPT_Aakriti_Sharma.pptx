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1"/>
  </p:notesMasterIdLst>
  <p:handoutMasterIdLst>
    <p:handoutMasterId r:id="rId22"/>
  </p:handoutMasterIdLst>
  <p:sldIdLst>
    <p:sldId id="338" r:id="rId5"/>
    <p:sldId id="327" r:id="rId6"/>
    <p:sldId id="315" r:id="rId7"/>
    <p:sldId id="329" r:id="rId8"/>
    <p:sldId id="302" r:id="rId9"/>
    <p:sldId id="339" r:id="rId10"/>
    <p:sldId id="340" r:id="rId11"/>
    <p:sldId id="344" r:id="rId12"/>
    <p:sldId id="345" r:id="rId13"/>
    <p:sldId id="346" r:id="rId14"/>
    <p:sldId id="347" r:id="rId15"/>
    <p:sldId id="348" r:id="rId16"/>
    <p:sldId id="341" r:id="rId17"/>
    <p:sldId id="342" r:id="rId18"/>
    <p:sldId id="343" r:id="rId19"/>
    <p:sldId id="30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71" d="100"/>
          <a:sy n="71" d="100"/>
        </p:scale>
        <p:origin x="612" y="78"/>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9/10/2026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9/10/2026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9/10/2026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9/10/2026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713757" y="2919121"/>
            <a:ext cx="10764486" cy="1068345"/>
          </a:xfrm>
        </p:spPr>
        <p:txBody>
          <a:bodyPr>
            <a:normAutofit/>
          </a:bodyPr>
          <a:lstStyle/>
          <a:p>
            <a:pPr algn="r"/>
            <a:r>
              <a:rPr lang="en-GB" sz="3200" dirty="0"/>
              <a:t>Project Title - </a:t>
            </a:r>
            <a:r>
              <a:rPr lang="en-IN" sz="3200" dirty="0"/>
              <a:t>Seasonal Agriculture Performance Analysis</a:t>
            </a:r>
            <a:br>
              <a:rPr lang="en-IN" sz="3200" dirty="0"/>
            </a:b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5" y="4675695"/>
            <a:ext cx="5914041" cy="400110"/>
          </a:xfrm>
          <a:prstGeom prst="rect">
            <a:avLst/>
          </a:prstGeom>
          <a:noFill/>
        </p:spPr>
        <p:txBody>
          <a:bodyPr wrap="square" rtlCol="0">
            <a:spAutoFit/>
          </a:bodyPr>
          <a:lstStyle/>
          <a:p>
            <a:r>
              <a:rPr lang="en-US" sz="2000" b="1" dirty="0"/>
              <a:t>AICTE STU ID : </a:t>
            </a:r>
            <a:r>
              <a:rPr lang="en-IN" sz="2000" dirty="0"/>
              <a:t>STU6a4fe5f636f271783621110</a:t>
            </a:r>
            <a:endParaRPr lang="en-US" sz="2000" b="1" dirty="0"/>
          </a:p>
        </p:txBody>
      </p:sp>
      <p:sp>
        <p:nvSpPr>
          <p:cNvPr id="7" name="TextBox 6">
            <a:extLst>
              <a:ext uri="{FF2B5EF4-FFF2-40B4-BE49-F238E27FC236}">
                <a16:creationId xmlns:a16="http://schemas.microsoft.com/office/drawing/2014/main" id="{3A6AE0AB-5774-33A6-26D0-62DDA1627CA0}"/>
              </a:ext>
            </a:extLst>
          </p:cNvPr>
          <p:cNvSpPr txBox="1"/>
          <p:nvPr/>
        </p:nvSpPr>
        <p:spPr>
          <a:xfrm>
            <a:off x="957405" y="3623694"/>
            <a:ext cx="8468982" cy="707886"/>
          </a:xfrm>
          <a:prstGeom prst="rect">
            <a:avLst/>
          </a:prstGeom>
          <a:noFill/>
        </p:spPr>
        <p:txBody>
          <a:bodyPr wrap="square" rtlCol="0">
            <a:spAutoFit/>
          </a:bodyPr>
          <a:lstStyle/>
          <a:p>
            <a:r>
              <a:rPr lang="en-US" sz="2000" dirty="0"/>
              <a:t>Name – Aakriti Sharma</a:t>
            </a:r>
          </a:p>
          <a:p>
            <a:r>
              <a:rPr lang="en-US" sz="2000" dirty="0"/>
              <a:t>College Name – Institute of Technology and Management</a:t>
            </a:r>
            <a:endParaRPr lang="en-IN" sz="2000"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754602" y="1880500"/>
            <a:ext cx="6995604" cy="4157229"/>
          </a:xfrm>
        </p:spPr>
        <p:txBody>
          <a:bodyPr vert="horz" lIns="91440" tIns="45720" rIns="91440" bIns="45720" rtlCol="0" anchor="t">
            <a:noAutofit/>
          </a:bodyPr>
          <a:lstStyle/>
          <a:p>
            <a:pPr marL="0" indent="0" algn="just">
              <a:lnSpc>
                <a:spcPct val="150000"/>
              </a:lnSpc>
              <a:buNone/>
            </a:pPr>
            <a:r>
              <a:rPr lang="en-US" sz="1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r>
              <a:rPr lang="en-US" sz="1600" dirty="0"/>
              <a:t>.</a:t>
            </a:r>
            <a:endParaRPr lang="en-IN" sz="16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1048871"/>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781423" y="543518"/>
            <a:ext cx="6276109" cy="830997"/>
          </a:xfrm>
        </p:spPr>
        <p:txBody>
          <a:bodyPr>
            <a:normAutofit fontScale="90000"/>
          </a:bodyPr>
          <a:lstStyle/>
          <a:p>
            <a:r>
              <a:rPr lang="en-GB" dirty="0"/>
              <a:t>Project Description</a:t>
            </a:r>
            <a:br>
              <a:rPr lang="en-GB"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7" name="TextBox 6">
            <a:extLst>
              <a:ext uri="{FF2B5EF4-FFF2-40B4-BE49-F238E27FC236}">
                <a16:creationId xmlns:a16="http://schemas.microsoft.com/office/drawing/2014/main" id="{744923AF-BBF1-9409-163A-B96C4108A9AD}"/>
              </a:ext>
            </a:extLst>
          </p:cNvPr>
          <p:cNvSpPr txBox="1"/>
          <p:nvPr/>
        </p:nvSpPr>
        <p:spPr>
          <a:xfrm>
            <a:off x="579716" y="1513168"/>
            <a:ext cx="9411448" cy="4801314"/>
          </a:xfrm>
          <a:prstGeom prst="rect">
            <a:avLst/>
          </a:prstGeom>
          <a:noFill/>
        </p:spPr>
        <p:txBody>
          <a:bodyPr wrap="square">
            <a:spAutoFit/>
          </a:bodyPr>
          <a:lstStyle/>
          <a:p>
            <a:pPr marL="285750" indent="-285750" algn="just">
              <a:buFont typeface="Wingdings" panose="05000000000000000000" pitchFamily="2" charset="2"/>
              <a:buChar char="§"/>
            </a:pPr>
            <a:r>
              <a:rPr lang="en-US" dirty="0"/>
              <a:t>Analyzed a farm-level agricultural dataset of 4,000 records covering 3 seasons (Kharif, Rabi, Zaid), 8 Indian states, 8 crops, and 4 irrigation methods to study seasonal performance patterns.</a:t>
            </a:r>
          </a:p>
          <a:p>
            <a:pPr marL="285750" indent="-285750" algn="just">
              <a:buFont typeface="Wingdings" panose="05000000000000000000" pitchFamily="2" charset="2"/>
              <a:buChar char="§"/>
            </a:pPr>
            <a:r>
              <a:rPr lang="en-US" dirty="0"/>
              <a:t>Cleaned and prepared the dataset by handling missing values (median imputation by season) and verifying no duplicate records.</a:t>
            </a:r>
          </a:p>
          <a:p>
            <a:pPr marL="285750" indent="-285750" algn="just">
              <a:buFont typeface="Wingdings" panose="05000000000000000000" pitchFamily="2" charset="2"/>
              <a:buChar char="§"/>
            </a:pPr>
            <a:r>
              <a:rPr lang="en-US" dirty="0"/>
              <a:t>Performed univariate, bivariate, and multivariate analysis using Python, Pandas, and Seaborn to compare yield, cost, revenue, and profit across seasons.</a:t>
            </a:r>
          </a:p>
          <a:p>
            <a:pPr marL="285750" indent="-285750" algn="just">
              <a:buFont typeface="Wingdings" panose="05000000000000000000" pitchFamily="2" charset="2"/>
              <a:buChar char="§"/>
            </a:pPr>
            <a:r>
              <a:rPr lang="en-US" dirty="0"/>
              <a:t>Conducted 3 additional independent analyses on regional consistency, disease/pest risk, and water-use efficiency to explain seasonal performance gaps.</a:t>
            </a:r>
          </a:p>
          <a:p>
            <a:pPr marL="285750" indent="-285750" algn="just">
              <a:buFont typeface="Wingdings" panose="05000000000000000000" pitchFamily="2" charset="2"/>
              <a:buChar char="§"/>
            </a:pPr>
            <a:r>
              <a:rPr lang="en-US" dirty="0"/>
              <a:t>Identified that Zaid season showed the lowest yield and the only negative average profit among the three seasons, while Kharif consistently performed best across all 8 states.</a:t>
            </a:r>
          </a:p>
          <a:p>
            <a:pPr marL="285750" indent="-285750" algn="just">
              <a:buFont typeface="Wingdings" panose="05000000000000000000" pitchFamily="2" charset="2"/>
              <a:buChar char="§"/>
            </a:pPr>
            <a:r>
              <a:rPr lang="en-US" dirty="0"/>
              <a:t>Found that irrigation method significantly affects seasonal profitability — Drip irrigation remained profitable across all seasons, while Flood and Rainfed irrigation turned unprofitable in Zaid.</a:t>
            </a:r>
          </a:p>
          <a:p>
            <a:pPr marL="285750" indent="-285750" algn="just">
              <a:buFont typeface="Wingdings" panose="05000000000000000000" pitchFamily="2" charset="2"/>
              <a:buChar char="§"/>
            </a:pPr>
            <a:r>
              <a:rPr lang="en-US" dirty="0"/>
              <a:t>Delivered 9 documented insights and evidence-based recommendations, including targeted irrigation improvements for Zaid-season farms.</a:t>
            </a:r>
            <a:endParaRPr lang="en-IN" dirty="0"/>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620008" y="2088114"/>
            <a:ext cx="9377382" cy="3679834"/>
          </a:xfrm>
        </p:spPr>
        <p:txBody>
          <a:bodyPr>
            <a:noAutofit/>
          </a:bodyPr>
          <a:lstStyle/>
          <a:p>
            <a:pPr algn="just"/>
            <a:r>
              <a:rPr lang="en-US" sz="1800" dirty="0"/>
              <a:t>Farmers deciding which crop, season, or irrigation method to invest in for better returns.</a:t>
            </a:r>
          </a:p>
          <a:p>
            <a:pPr algn="just"/>
            <a:r>
              <a:rPr lang="en-US" sz="1800" dirty="0"/>
              <a:t>Agricultural planners and government bodies developing season-specific agricultural policies.</a:t>
            </a:r>
          </a:p>
          <a:p>
            <a:pPr algn="just"/>
            <a:r>
              <a:rPr lang="en-US" sz="1800" dirty="0"/>
              <a:t>Agribusiness and irrigation consultants identifying regions and seasons that need targeted support.</a:t>
            </a:r>
          </a:p>
          <a:p>
            <a:pPr algn="just"/>
            <a:r>
              <a:rPr lang="en-US" sz="1800" dirty="0"/>
              <a:t>Researchers and students studying seasonal patterns in Indian agriculture for further analysis.</a:t>
            </a:r>
          </a:p>
          <a:p>
            <a:pPr algn="just"/>
            <a:r>
              <a:rPr lang="en-US" sz="1800" dirty="0"/>
              <a:t>Financial institutions and insurers assessing seasonal risk for agricultural loans or crop insurance</a:t>
            </a:r>
            <a:r>
              <a:rPr lang="en-US" sz="1800" b="1" dirty="0"/>
              <a:t>.</a:t>
            </a:r>
            <a:endParaRPr lang="en-IN" sz="1800" b="1"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721359" y="1090052"/>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normAutofit/>
          </a:bodyPr>
          <a:lstStyle/>
          <a:p>
            <a:pPr lvl="1" algn="just">
              <a:lnSpc>
                <a:spcPct val="150000"/>
              </a:lnSpc>
            </a:pPr>
            <a:r>
              <a:rPr lang="en-IN" sz="1800" dirty="0"/>
              <a:t>Python — core programming language for the entire analysis</a:t>
            </a:r>
          </a:p>
          <a:p>
            <a:pPr lvl="1" algn="just">
              <a:lnSpc>
                <a:spcPct val="150000"/>
              </a:lnSpc>
            </a:pPr>
            <a:r>
              <a:rPr lang="en-IN" sz="1800" dirty="0"/>
              <a:t>Google </a:t>
            </a:r>
            <a:r>
              <a:rPr lang="en-IN" sz="1800" dirty="0" err="1"/>
              <a:t>Colab</a:t>
            </a:r>
            <a:r>
              <a:rPr lang="en-IN" sz="1800" dirty="0"/>
              <a:t> — development environment for writing and running the analysis</a:t>
            </a:r>
          </a:p>
          <a:p>
            <a:pPr lvl="1" algn="just">
              <a:lnSpc>
                <a:spcPct val="150000"/>
              </a:lnSpc>
            </a:pPr>
            <a:r>
              <a:rPr lang="en-IN" sz="1800" dirty="0"/>
              <a:t>Pandas &amp; NumPy — data cleaning, transformation, and numerical computation</a:t>
            </a:r>
          </a:p>
          <a:p>
            <a:pPr lvl="1" algn="just">
              <a:lnSpc>
                <a:spcPct val="150000"/>
              </a:lnSpc>
            </a:pPr>
            <a:r>
              <a:rPr lang="en-IN" sz="1800" dirty="0"/>
              <a:t>Matplotlib &amp; Seaborn — data visualization (univariate, bivariate, and multivariate plots)</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303841" y="246701"/>
            <a:ext cx="11427265" cy="666078"/>
          </a:xfrm>
        </p:spPr>
        <p:txBody>
          <a:bodyPr>
            <a:normAutofit/>
          </a:bodyPr>
          <a:lstStyle/>
          <a:p>
            <a:r>
              <a:rPr lang="en-GB" sz="3600" dirty="0"/>
              <a:t>RESULTS : </a:t>
            </a:r>
            <a:r>
              <a:rPr lang="en-IN" sz="3600" dirty="0"/>
              <a:t>Seasonal Performance Comparison</a:t>
            </a:r>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F621B43A-CCF3-D58E-CF0B-A2093C2C1223}"/>
              </a:ext>
            </a:extLst>
          </p:cNvPr>
          <p:cNvPicPr>
            <a:picLocks noChangeAspect="1"/>
          </p:cNvPicPr>
          <p:nvPr/>
        </p:nvPicPr>
        <p:blipFill>
          <a:blip r:embed="rId3"/>
          <a:srcRect l="1629" t="2598" b="1872"/>
          <a:stretch>
            <a:fillRect/>
          </a:stretch>
        </p:blipFill>
        <p:spPr>
          <a:xfrm>
            <a:off x="4987221" y="855305"/>
            <a:ext cx="7042045" cy="2703796"/>
          </a:xfrm>
          <a:prstGeom prst="rect">
            <a:avLst/>
          </a:prstGeom>
        </p:spPr>
      </p:pic>
      <p:sp>
        <p:nvSpPr>
          <p:cNvPr id="6" name="Rectangle 1">
            <a:extLst>
              <a:ext uri="{FF2B5EF4-FFF2-40B4-BE49-F238E27FC236}">
                <a16:creationId xmlns:a16="http://schemas.microsoft.com/office/drawing/2014/main" id="{50A42B1C-D38C-BD15-C304-E97D19342E72}"/>
              </a:ext>
            </a:extLst>
          </p:cNvPr>
          <p:cNvSpPr>
            <a:spLocks noGrp="1" noChangeArrowheads="1"/>
          </p:cNvSpPr>
          <p:nvPr>
            <p:ph type="body" sz="quarter" idx="12"/>
          </p:nvPr>
        </p:nvSpPr>
        <p:spPr bwMode="auto">
          <a:xfrm>
            <a:off x="303841" y="915266"/>
            <a:ext cx="4683380" cy="50274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lnSpc>
                <a:spcPct val="150000"/>
              </a:lnSpc>
              <a:spcBef>
                <a:spcPct val="0"/>
              </a:spcBef>
              <a:spcAft>
                <a:spcPct val="0"/>
              </a:spcAft>
              <a:buClrTx/>
              <a:buSzTx/>
            </a:pPr>
            <a:r>
              <a:rPr kumimoji="0" lang="en-US" altLang="en-US" sz="1800" b="0" i="0" u="none" strike="noStrike" cap="none" normalizeH="0" baseline="0" dirty="0">
                <a:ln>
                  <a:noFill/>
                </a:ln>
                <a:solidFill>
                  <a:schemeClr val="tx1"/>
                </a:solidFill>
                <a:effectLst/>
              </a:rPr>
              <a:t>Compared average Yield, Cost, Revenue, and Profit across Kharif, Rabi, and Zaid seasons. </a:t>
            </a:r>
          </a:p>
          <a:p>
            <a:pPr defTabSz="914400" eaLnBrk="0" fontAlgn="base" hangingPunct="0">
              <a:lnSpc>
                <a:spcPct val="150000"/>
              </a:lnSpc>
              <a:spcBef>
                <a:spcPct val="0"/>
              </a:spcBef>
              <a:spcAft>
                <a:spcPct val="0"/>
              </a:spcAft>
              <a:buClrTx/>
              <a:buSzTx/>
            </a:pPr>
            <a:r>
              <a:rPr kumimoji="0" lang="en-US" altLang="en-US" sz="1800" b="0" i="0" u="none" strike="noStrike" cap="none" normalizeH="0" baseline="0" dirty="0">
                <a:ln>
                  <a:noFill/>
                </a:ln>
                <a:solidFill>
                  <a:schemeClr val="tx1"/>
                </a:solidFill>
                <a:effectLst/>
              </a:rPr>
              <a:t>Kharif recorded the highest performance: Yield 5.63 t/ha, Revenue ₹710,719, Profit ₹178,915. </a:t>
            </a:r>
            <a:endParaRPr lang="en-US" altLang="en-US" sz="1800" dirty="0">
              <a:solidFill>
                <a:schemeClr val="tx1"/>
              </a:solidFill>
            </a:endParaRPr>
          </a:p>
          <a:p>
            <a:pPr defTabSz="914400" eaLnBrk="0" fontAlgn="base" hangingPunct="0">
              <a:lnSpc>
                <a:spcPct val="150000"/>
              </a:lnSpc>
              <a:spcBef>
                <a:spcPct val="0"/>
              </a:spcBef>
              <a:spcAft>
                <a:spcPct val="0"/>
              </a:spcAft>
              <a:buClrTx/>
              <a:buSzTx/>
            </a:pPr>
            <a:r>
              <a:rPr kumimoji="0" lang="en-US" altLang="en-US" sz="1800" b="0" i="0" u="none" strike="noStrike" cap="none" normalizeH="0" baseline="0" dirty="0">
                <a:ln>
                  <a:noFill/>
                </a:ln>
                <a:solidFill>
                  <a:schemeClr val="tx1"/>
                </a:solidFill>
                <a:effectLst/>
              </a:rPr>
              <a:t>Rabi showed moderate performance: Yield 5.04 t/ha, Profit ₹87,689. </a:t>
            </a:r>
          </a:p>
          <a:p>
            <a:pPr defTabSz="914400" eaLnBrk="0" fontAlgn="base" hangingPunct="0">
              <a:lnSpc>
                <a:spcPct val="150000"/>
              </a:lnSpc>
              <a:spcBef>
                <a:spcPct val="0"/>
              </a:spcBef>
              <a:spcAft>
                <a:spcPct val="0"/>
              </a:spcAft>
              <a:buClrTx/>
              <a:buSzTx/>
            </a:pPr>
            <a:r>
              <a:rPr kumimoji="0" lang="en-US" altLang="en-US" sz="1800" b="0" i="0" u="none" strike="noStrike" cap="none" normalizeH="0" baseline="0" dirty="0">
                <a:ln>
                  <a:noFill/>
                </a:ln>
                <a:solidFill>
                  <a:schemeClr val="tx1"/>
                </a:solidFill>
                <a:effectLst/>
              </a:rPr>
              <a:t>Zaid was the weakest season: Yield 4.64 t/ha, and the only season with a negative average profit (-₹24,805), despite having the highest average cost </a:t>
            </a:r>
          </a:p>
        </p:txBody>
      </p:sp>
      <p:pic>
        <p:nvPicPr>
          <p:cNvPr id="11" name="Picture 10">
            <a:extLst>
              <a:ext uri="{FF2B5EF4-FFF2-40B4-BE49-F238E27FC236}">
                <a16:creationId xmlns:a16="http://schemas.microsoft.com/office/drawing/2014/main" id="{51A3D522-E1CA-1584-57F3-C152AE910312}"/>
              </a:ext>
            </a:extLst>
          </p:cNvPr>
          <p:cNvPicPr>
            <a:picLocks noChangeAspect="1"/>
          </p:cNvPicPr>
          <p:nvPr/>
        </p:nvPicPr>
        <p:blipFill>
          <a:blip r:embed="rId4"/>
          <a:srcRect t="2164"/>
          <a:stretch>
            <a:fillRect/>
          </a:stretch>
        </p:blipFill>
        <p:spPr>
          <a:xfrm>
            <a:off x="5092128" y="3752141"/>
            <a:ext cx="6937138" cy="2912819"/>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502035" y="149428"/>
            <a:ext cx="6504772" cy="1404423"/>
          </a:xfrm>
        </p:spPr>
        <p:txBody>
          <a:bodyPr>
            <a:normAutofit/>
          </a:bodyPr>
          <a:lstStyle/>
          <a:p>
            <a:r>
              <a:rPr lang="en-GB" sz="3600" dirty="0"/>
              <a:t>RESULTS</a:t>
            </a:r>
            <a:r>
              <a:rPr lang="en-GB" sz="4400" dirty="0"/>
              <a:t> </a:t>
            </a:r>
            <a:r>
              <a:rPr lang="en-GB" sz="3600" dirty="0"/>
              <a:t>:</a:t>
            </a:r>
            <a:r>
              <a:rPr lang="en-IN" sz="4400" dirty="0"/>
              <a:t> </a:t>
            </a:r>
            <a:r>
              <a:rPr lang="en-IN" sz="3600" dirty="0"/>
              <a:t>Correlation &amp; Multivariate Analysis</a:t>
            </a:r>
            <a:r>
              <a:rPr lang="en-GB" sz="3600" dirty="0"/>
              <a:t> </a:t>
            </a:r>
            <a:endParaRPr lang="en-IN" sz="4400"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502035" y="1632873"/>
            <a:ext cx="5781895" cy="4368667"/>
          </a:xfrm>
        </p:spPr>
        <p:txBody>
          <a:bodyPr>
            <a:normAutofit/>
          </a:bodyPr>
          <a:lstStyle/>
          <a:p>
            <a:r>
              <a:rPr lang="en-US" dirty="0"/>
              <a:t>Built a correlation heatmap across all numeric variables (environmental, input, and outcome variables).</a:t>
            </a:r>
          </a:p>
          <a:p>
            <a:r>
              <a:rPr lang="en-US" dirty="0"/>
              <a:t>Found expected clustering: cost- and revenue-related variables correlated together, while environmental variables (rainfall, temperature, humidity) formed a separate cluster.</a:t>
            </a:r>
          </a:p>
          <a:p>
            <a:r>
              <a:rPr lang="en-US" dirty="0"/>
              <a:t>Combined Rainfall, Yield, Season, and Cost in a single visualization, showing Kharif farms cluster in the higher-rainfall, higher-cost, higher-yield range.</a:t>
            </a:r>
            <a:endParaRPr lang="en-IN" dirty="0"/>
          </a:p>
        </p:txBody>
      </p:sp>
      <p:pic>
        <p:nvPicPr>
          <p:cNvPr id="12" name="Picture 11">
            <a:extLst>
              <a:ext uri="{FF2B5EF4-FFF2-40B4-BE49-F238E27FC236}">
                <a16:creationId xmlns:a16="http://schemas.microsoft.com/office/drawing/2014/main" id="{14267B15-35A6-B358-03F3-0CF57B02A072}"/>
              </a:ext>
            </a:extLst>
          </p:cNvPr>
          <p:cNvPicPr>
            <a:picLocks noChangeAspect="1"/>
          </p:cNvPicPr>
          <p:nvPr/>
        </p:nvPicPr>
        <p:blipFill>
          <a:blip r:embed="rId3"/>
          <a:stretch>
            <a:fillRect/>
          </a:stretch>
        </p:blipFill>
        <p:spPr>
          <a:xfrm>
            <a:off x="6283930" y="0"/>
            <a:ext cx="5908070" cy="6858000"/>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0">
                                            <p:txEl>
                                              <p:pRg st="0" end="0"/>
                                            </p:txEl>
                                          </p:spTgt>
                                        </p:tgtEl>
                                        <p:attrNameLst>
                                          <p:attrName>style.visibility</p:attrName>
                                        </p:attrNameLst>
                                      </p:cBhvr>
                                      <p:to>
                                        <p:strVal val="visible"/>
                                      </p:to>
                                    </p:set>
                                    <p:animEffect transition="in" filter="fade">
                                      <p:cBhvr>
                                        <p:cTn id="21" dur="1000"/>
                                        <p:tgtEl>
                                          <p:spTgt spid="10">
                                            <p:txEl>
                                              <p:pRg st="0" end="0"/>
                                            </p:txEl>
                                          </p:spTgt>
                                        </p:tgtEl>
                                      </p:cBhvr>
                                    </p:animEffect>
                                    <p:anim calcmode="lin" valueType="num">
                                      <p:cBhvr>
                                        <p:cTn id="22"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1" end="1"/>
                                            </p:txEl>
                                          </p:spTgt>
                                        </p:tgtEl>
                                        <p:attrNameLst>
                                          <p:attrName>style.visibility</p:attrName>
                                        </p:attrNameLst>
                                      </p:cBhvr>
                                      <p:to>
                                        <p:strVal val="visible"/>
                                      </p:to>
                                    </p:set>
                                    <p:animEffect transition="in" filter="fade">
                                      <p:cBhvr>
                                        <p:cTn id="28" dur="1000"/>
                                        <p:tgtEl>
                                          <p:spTgt spid="10">
                                            <p:txEl>
                                              <p:pRg st="1" end="1"/>
                                            </p:txEl>
                                          </p:spTgt>
                                        </p:tgtEl>
                                      </p:cBhvr>
                                    </p:animEffect>
                                    <p:anim calcmode="lin" valueType="num">
                                      <p:cBhvr>
                                        <p:cTn id="29"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2" end="2"/>
                                            </p:txEl>
                                          </p:spTgt>
                                        </p:tgtEl>
                                        <p:attrNameLst>
                                          <p:attrName>style.visibility</p:attrName>
                                        </p:attrNameLst>
                                      </p:cBhvr>
                                      <p:to>
                                        <p:strVal val="visible"/>
                                      </p:to>
                                    </p:set>
                                    <p:animEffect transition="in" filter="fade">
                                      <p:cBhvr>
                                        <p:cTn id="35" dur="1000"/>
                                        <p:tgtEl>
                                          <p:spTgt spid="10">
                                            <p:txEl>
                                              <p:pRg st="2" end="2"/>
                                            </p:txEl>
                                          </p:spTgt>
                                        </p:tgtEl>
                                      </p:cBhvr>
                                    </p:animEffect>
                                    <p:anim calcmode="lin" valueType="num">
                                      <p:cBhvr>
                                        <p:cTn id="36"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10135478" cy="1256505"/>
          </a:xfrm>
        </p:spPr>
        <p:txBody>
          <a:bodyPr>
            <a:normAutofit/>
          </a:bodyPr>
          <a:lstStyle/>
          <a:p>
            <a:r>
              <a:rPr lang="en-GB" sz="3600" dirty="0"/>
              <a:t>RESULTS</a:t>
            </a:r>
            <a:r>
              <a:rPr lang="en-GB" sz="4400" dirty="0"/>
              <a:t> </a:t>
            </a:r>
            <a:r>
              <a:rPr lang="en-GB" sz="3600" dirty="0"/>
              <a:t>:</a:t>
            </a:r>
            <a:r>
              <a:rPr lang="en-GB" sz="4400" dirty="0"/>
              <a:t> </a:t>
            </a:r>
            <a:r>
              <a:rPr lang="en-IN" sz="3600" dirty="0"/>
              <a:t>Crop &amp; Season Profitability</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702746" y="1277944"/>
            <a:ext cx="4111196" cy="4404331"/>
          </a:xfrm>
        </p:spPr>
        <p:txBody>
          <a:bodyPr>
            <a:normAutofit/>
          </a:bodyPr>
          <a:lstStyle/>
          <a:p>
            <a:r>
              <a:rPr lang="en-US" dirty="0"/>
              <a:t>Compared average profit by crop across all three seasons.</a:t>
            </a:r>
          </a:p>
          <a:p>
            <a:r>
              <a:rPr lang="en-US" dirty="0"/>
              <a:t>Chilli and Sugarcane were the most consistently profitable crops in every season.</a:t>
            </a:r>
          </a:p>
          <a:p>
            <a:r>
              <a:rPr lang="en-US" dirty="0"/>
              <a:t>Wheat, Maize, Pulses, and Rice ran close to breakeven or negative, especially in Zaid season.</a:t>
            </a:r>
          </a:p>
          <a:p>
            <a:r>
              <a:rPr lang="en-US" dirty="0"/>
              <a:t>Crop choice showed a stronger, more consistent link to profitability than season alone.</a:t>
            </a:r>
            <a:endParaRPr lang="en-IN" dirty="0"/>
          </a:p>
        </p:txBody>
      </p:sp>
      <p:pic>
        <p:nvPicPr>
          <p:cNvPr id="6" name="Picture 5">
            <a:extLst>
              <a:ext uri="{FF2B5EF4-FFF2-40B4-BE49-F238E27FC236}">
                <a16:creationId xmlns:a16="http://schemas.microsoft.com/office/drawing/2014/main" id="{D2FA4F41-3918-CF8D-475A-7D9BBFACADFB}"/>
              </a:ext>
            </a:extLst>
          </p:cNvPr>
          <p:cNvPicPr>
            <a:picLocks noChangeAspect="1"/>
          </p:cNvPicPr>
          <p:nvPr/>
        </p:nvPicPr>
        <p:blipFill>
          <a:blip r:embed="rId3"/>
          <a:srcRect t="819"/>
          <a:stretch>
            <a:fillRect/>
          </a:stretch>
        </p:blipFill>
        <p:spPr>
          <a:xfrm>
            <a:off x="4813942" y="1133284"/>
            <a:ext cx="7057076" cy="5196549"/>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xEl>
                                              <p:pRg st="3" end="3"/>
                                            </p:txEl>
                                          </p:spTgt>
                                        </p:tgtEl>
                                        <p:attrNameLst>
                                          <p:attrName>style.visibility</p:attrName>
                                        </p:attrNameLst>
                                      </p:cBhvr>
                                      <p:to>
                                        <p:strVal val="visible"/>
                                      </p:to>
                                    </p:set>
                                    <p:animEffect transition="in" filter="fade">
                                      <p:cBhvr>
                                        <p:cTn id="49" dur="1000"/>
                                        <p:tgtEl>
                                          <p:spTgt spid="10">
                                            <p:txEl>
                                              <p:pRg st="3" end="3"/>
                                            </p:txEl>
                                          </p:spTgt>
                                        </p:tgtEl>
                                      </p:cBhvr>
                                    </p:animEffect>
                                    <p:anim calcmode="lin" valueType="num">
                                      <p:cBhvr>
                                        <p:cTn id="50"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525577" y="432610"/>
            <a:ext cx="9546270" cy="830997"/>
          </a:xfrm>
        </p:spPr>
        <p:txBody>
          <a:bodyPr>
            <a:normAutofit/>
          </a:bodyPr>
          <a:lstStyle/>
          <a:p>
            <a:r>
              <a:rPr lang="en-GB" sz="3600" dirty="0"/>
              <a:t>RESULTS</a:t>
            </a:r>
            <a:r>
              <a:rPr lang="en-GB" sz="4400" dirty="0"/>
              <a:t> </a:t>
            </a:r>
            <a:r>
              <a:rPr lang="en-GB" sz="3600" dirty="0"/>
              <a:t>: </a:t>
            </a:r>
            <a:r>
              <a:rPr lang="en-IN" sz="3600" dirty="0"/>
              <a:t>Irrigation Method Impact</a:t>
            </a:r>
            <a:endParaRPr lang="en-IN" sz="4400"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569597" y="1431693"/>
            <a:ext cx="5629497" cy="4471566"/>
          </a:xfrm>
        </p:spPr>
        <p:txBody>
          <a:bodyPr>
            <a:normAutofit/>
          </a:bodyPr>
          <a:lstStyle/>
          <a:p>
            <a:pPr algn="just"/>
            <a:r>
              <a:rPr lang="en-US" dirty="0"/>
              <a:t>Analyzed average profit by irrigation method within each season (Drip, Flood, Rainfed, Sprinkler).</a:t>
            </a:r>
          </a:p>
          <a:p>
            <a:pPr algn="just"/>
            <a:r>
              <a:rPr lang="en-US" dirty="0"/>
              <a:t>Drip irrigation remained profitable across all three seasons.</a:t>
            </a:r>
          </a:p>
          <a:p>
            <a:pPr algn="just"/>
            <a:r>
              <a:rPr lang="en-US" dirty="0"/>
              <a:t>Flood and Rainfed irrigation turned negative specifically in Zaid season (-₹69,787 and -₹79,467 respectively).</a:t>
            </a:r>
          </a:p>
          <a:p>
            <a:pPr algn="just"/>
            <a:r>
              <a:rPr lang="en-US" dirty="0"/>
              <a:t>Identified irrigation method as a key, changeable factor behind Zaid's weaker performance.</a:t>
            </a:r>
            <a:endParaRPr lang="en-IN" dirty="0"/>
          </a:p>
        </p:txBody>
      </p:sp>
      <p:pic>
        <p:nvPicPr>
          <p:cNvPr id="11" name="Picture 10">
            <a:extLst>
              <a:ext uri="{FF2B5EF4-FFF2-40B4-BE49-F238E27FC236}">
                <a16:creationId xmlns:a16="http://schemas.microsoft.com/office/drawing/2014/main" id="{7E4F6C56-1F14-9799-ED3A-9212B1C02FD0}"/>
              </a:ext>
            </a:extLst>
          </p:cNvPr>
          <p:cNvPicPr>
            <a:picLocks noChangeAspect="1"/>
          </p:cNvPicPr>
          <p:nvPr/>
        </p:nvPicPr>
        <p:blipFill>
          <a:blip r:embed="rId3"/>
          <a:stretch>
            <a:fillRect/>
          </a:stretch>
        </p:blipFill>
        <p:spPr>
          <a:xfrm>
            <a:off x="6199095" y="2272553"/>
            <a:ext cx="5876364" cy="2057400"/>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0">
                                            <p:txEl>
                                              <p:pRg st="0" end="0"/>
                                            </p:txEl>
                                          </p:spTgt>
                                        </p:tgtEl>
                                        <p:attrNameLst>
                                          <p:attrName>style.visibility</p:attrName>
                                        </p:attrNameLst>
                                      </p:cBhvr>
                                      <p:to>
                                        <p:strVal val="visible"/>
                                      </p:to>
                                    </p:set>
                                    <p:animEffect transition="in" filter="fade">
                                      <p:cBhvr>
                                        <p:cTn id="21" dur="1000"/>
                                        <p:tgtEl>
                                          <p:spTgt spid="10">
                                            <p:txEl>
                                              <p:pRg st="0" end="0"/>
                                            </p:txEl>
                                          </p:spTgt>
                                        </p:tgtEl>
                                      </p:cBhvr>
                                    </p:animEffect>
                                    <p:anim calcmode="lin" valueType="num">
                                      <p:cBhvr>
                                        <p:cTn id="22"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1" end="1"/>
                                            </p:txEl>
                                          </p:spTgt>
                                        </p:tgtEl>
                                        <p:attrNameLst>
                                          <p:attrName>style.visibility</p:attrName>
                                        </p:attrNameLst>
                                      </p:cBhvr>
                                      <p:to>
                                        <p:strVal val="visible"/>
                                      </p:to>
                                    </p:set>
                                    <p:animEffect transition="in" filter="fade">
                                      <p:cBhvr>
                                        <p:cTn id="28" dur="1000"/>
                                        <p:tgtEl>
                                          <p:spTgt spid="10">
                                            <p:txEl>
                                              <p:pRg st="1" end="1"/>
                                            </p:txEl>
                                          </p:spTgt>
                                        </p:tgtEl>
                                      </p:cBhvr>
                                    </p:animEffect>
                                    <p:anim calcmode="lin" valueType="num">
                                      <p:cBhvr>
                                        <p:cTn id="29"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2" end="2"/>
                                            </p:txEl>
                                          </p:spTgt>
                                        </p:tgtEl>
                                        <p:attrNameLst>
                                          <p:attrName>style.visibility</p:attrName>
                                        </p:attrNameLst>
                                      </p:cBhvr>
                                      <p:to>
                                        <p:strVal val="visible"/>
                                      </p:to>
                                    </p:set>
                                    <p:animEffect transition="in" filter="fade">
                                      <p:cBhvr>
                                        <p:cTn id="35" dur="1000"/>
                                        <p:tgtEl>
                                          <p:spTgt spid="10">
                                            <p:txEl>
                                              <p:pRg st="2" end="2"/>
                                            </p:txEl>
                                          </p:spTgt>
                                        </p:tgtEl>
                                      </p:cBhvr>
                                    </p:animEffect>
                                    <p:anim calcmode="lin" valueType="num">
                                      <p:cBhvr>
                                        <p:cTn id="36"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3" end="3"/>
                                            </p:txEl>
                                          </p:spTgt>
                                        </p:tgtEl>
                                        <p:attrNameLst>
                                          <p:attrName>style.visibility</p:attrName>
                                        </p:attrNameLst>
                                      </p:cBhvr>
                                      <p:to>
                                        <p:strVal val="visible"/>
                                      </p:to>
                                    </p:set>
                                    <p:animEffect transition="in" filter="fade">
                                      <p:cBhvr>
                                        <p:cTn id="42" dur="1000"/>
                                        <p:tgtEl>
                                          <p:spTgt spid="10">
                                            <p:txEl>
                                              <p:pRg st="3" end="3"/>
                                            </p:txEl>
                                          </p:spTgt>
                                        </p:tgtEl>
                                      </p:cBhvr>
                                    </p:animEffect>
                                    <p:anim calcmode="lin" valueType="num">
                                      <p:cBhvr>
                                        <p:cTn id="43"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479612" y="443935"/>
            <a:ext cx="11391406" cy="831436"/>
          </a:xfrm>
        </p:spPr>
        <p:txBody>
          <a:bodyPr>
            <a:noAutofit/>
          </a:bodyPr>
          <a:lstStyle/>
          <a:p>
            <a:r>
              <a:rPr lang="en-GB" sz="3600" dirty="0"/>
              <a:t>RESULTS :</a:t>
            </a:r>
            <a:r>
              <a:rPr lang="en-IN" sz="3600" dirty="0"/>
              <a:t>Regional, Risk &amp; Water-Efficiency Findings</a:t>
            </a:r>
            <a:r>
              <a:rPr lang="en-GB" sz="3600" dirty="0"/>
              <a:t> </a:t>
            </a:r>
            <a:endParaRPr lang="en-IN" sz="3600"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479611" y="1431693"/>
            <a:ext cx="9444317" cy="1580448"/>
          </a:xfrm>
        </p:spPr>
        <p:txBody>
          <a:bodyPr>
            <a:noAutofit/>
          </a:bodyPr>
          <a:lstStyle/>
          <a:p>
            <a:r>
              <a:rPr lang="en-US" dirty="0"/>
              <a:t>Regional analysis: Zaid was unprofitable in 5 of 8 states, most severely in Gujarat and Andhra Pradesh, but stayed positive in Karnataka and Punjab.</a:t>
            </a:r>
          </a:p>
        </p:txBody>
      </p:sp>
      <p:pic>
        <p:nvPicPr>
          <p:cNvPr id="6" name="Picture 5">
            <a:extLst>
              <a:ext uri="{FF2B5EF4-FFF2-40B4-BE49-F238E27FC236}">
                <a16:creationId xmlns:a16="http://schemas.microsoft.com/office/drawing/2014/main" id="{0A707043-F9EE-4024-77D7-38718598FE12}"/>
              </a:ext>
            </a:extLst>
          </p:cNvPr>
          <p:cNvPicPr>
            <a:picLocks noChangeAspect="1"/>
          </p:cNvPicPr>
          <p:nvPr/>
        </p:nvPicPr>
        <p:blipFill>
          <a:blip r:embed="rId3"/>
          <a:stretch>
            <a:fillRect/>
          </a:stretch>
        </p:blipFill>
        <p:spPr>
          <a:xfrm>
            <a:off x="816501" y="2435750"/>
            <a:ext cx="8112346" cy="3978315"/>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0">
                                            <p:txEl>
                                              <p:pRg st="0" end="0"/>
                                            </p:txEl>
                                          </p:spTgt>
                                        </p:tgtEl>
                                        <p:attrNameLst>
                                          <p:attrName>style.visibility</p:attrName>
                                        </p:attrNameLst>
                                      </p:cBhvr>
                                      <p:to>
                                        <p:strVal val="visible"/>
                                      </p:to>
                                    </p:set>
                                    <p:animEffect transition="in" filter="fade">
                                      <p:cBhvr>
                                        <p:cTn id="21" dur="1000"/>
                                        <p:tgtEl>
                                          <p:spTgt spid="10">
                                            <p:txEl>
                                              <p:pRg st="0" end="0"/>
                                            </p:txEl>
                                          </p:spTgt>
                                        </p:tgtEl>
                                      </p:cBhvr>
                                    </p:animEffect>
                                    <p:anim calcmode="lin" valueType="num">
                                      <p:cBhvr>
                                        <p:cTn id="22"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FAD71B-4DD7-70D1-D3B6-DE5432FB9B2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E915428-5408-9B4B-649B-63E8E6D6C5AD}"/>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7" name="Text Placeholder 30">
            <a:extLst>
              <a:ext uri="{FF2B5EF4-FFF2-40B4-BE49-F238E27FC236}">
                <a16:creationId xmlns:a16="http://schemas.microsoft.com/office/drawing/2014/main" id="{B0CE9213-BB68-7E5C-5A2F-9BF63EA26EFE}"/>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E5CE193-170D-365B-039E-CC29B71AACD3}"/>
              </a:ext>
            </a:extLst>
          </p:cNvPr>
          <p:cNvSpPr>
            <a:spLocks noGrp="1"/>
          </p:cNvSpPr>
          <p:nvPr>
            <p:ph type="body" sz="quarter" idx="12"/>
          </p:nvPr>
        </p:nvSpPr>
        <p:spPr>
          <a:xfrm>
            <a:off x="519952" y="608152"/>
            <a:ext cx="9444317" cy="1580448"/>
          </a:xfrm>
        </p:spPr>
        <p:txBody>
          <a:bodyPr>
            <a:noAutofit/>
          </a:bodyPr>
          <a:lstStyle/>
          <a:p>
            <a:r>
              <a:rPr lang="en-US" dirty="0"/>
              <a:t>Risk analysis: Kharif had the highest disease/pest risk (54.47%) of all seasons, yet remained the most profitable ,ruling out pest risk as the cause of Zaid's underperformance.</a:t>
            </a:r>
          </a:p>
        </p:txBody>
      </p:sp>
      <p:pic>
        <p:nvPicPr>
          <p:cNvPr id="3" name="Picture 2">
            <a:extLst>
              <a:ext uri="{FF2B5EF4-FFF2-40B4-BE49-F238E27FC236}">
                <a16:creationId xmlns:a16="http://schemas.microsoft.com/office/drawing/2014/main" id="{715AECD9-6829-D215-6154-81D0C0763E0C}"/>
              </a:ext>
            </a:extLst>
          </p:cNvPr>
          <p:cNvPicPr>
            <a:picLocks noChangeAspect="1"/>
          </p:cNvPicPr>
          <p:nvPr/>
        </p:nvPicPr>
        <p:blipFill>
          <a:blip r:embed="rId3"/>
          <a:stretch>
            <a:fillRect/>
          </a:stretch>
        </p:blipFill>
        <p:spPr>
          <a:xfrm>
            <a:off x="675957" y="1669249"/>
            <a:ext cx="8211525" cy="4555520"/>
          </a:xfrm>
          <a:prstGeom prst="rect">
            <a:avLst/>
          </a:prstGeom>
        </p:spPr>
      </p:pic>
    </p:spTree>
    <p:extLst>
      <p:ext uri="{BB962C8B-B14F-4D97-AF65-F5344CB8AC3E}">
        <p14:creationId xmlns:p14="http://schemas.microsoft.com/office/powerpoint/2010/main" val="3184284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0">
                                            <p:txEl>
                                              <p:pRg st="0" end="0"/>
                                            </p:txEl>
                                          </p:spTgt>
                                        </p:tgtEl>
                                        <p:attrNameLst>
                                          <p:attrName>style.visibility</p:attrName>
                                        </p:attrNameLst>
                                      </p:cBhvr>
                                      <p:to>
                                        <p:strVal val="visible"/>
                                      </p:to>
                                    </p:set>
                                    <p:animEffect transition="in" filter="fade">
                                      <p:cBhvr>
                                        <p:cTn id="14" dur="1000"/>
                                        <p:tgtEl>
                                          <p:spTgt spid="10">
                                            <p:txEl>
                                              <p:pRg st="0" end="0"/>
                                            </p:txEl>
                                          </p:spTgt>
                                        </p:tgtEl>
                                      </p:cBhvr>
                                    </p:animEffect>
                                    <p:anim calcmode="lin" valueType="num">
                                      <p:cBhvr>
                                        <p:cTn id="15"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B79C8-55FA-E2E6-7E54-7F39E8D7104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BD3C081-E5D8-C81D-F4DB-B09444DE9AF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7" name="Text Placeholder 30">
            <a:extLst>
              <a:ext uri="{FF2B5EF4-FFF2-40B4-BE49-F238E27FC236}">
                <a16:creationId xmlns:a16="http://schemas.microsoft.com/office/drawing/2014/main" id="{86780BDA-784D-9194-C8CC-83ED59560247}"/>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7F953B11-2FDA-0536-4B0D-3BC6E2FDCCF9}"/>
              </a:ext>
            </a:extLst>
          </p:cNvPr>
          <p:cNvSpPr>
            <a:spLocks noGrp="1"/>
          </p:cNvSpPr>
          <p:nvPr>
            <p:ph type="body" sz="quarter" idx="12"/>
          </p:nvPr>
        </p:nvSpPr>
        <p:spPr>
          <a:xfrm>
            <a:off x="519952" y="608152"/>
            <a:ext cx="9444317" cy="1580448"/>
          </a:xfrm>
        </p:spPr>
        <p:txBody>
          <a:bodyPr>
            <a:noAutofit/>
          </a:bodyPr>
          <a:lstStyle/>
          <a:p>
            <a:r>
              <a:rPr lang="en-US" dirty="0"/>
              <a:t>Water-efficiency analysis: Zaid used the most water (6,419.89 m³) but had the lowest water efficiency (4.41 t/1000m³), pointing to irrigation planning as the most actionable improvement area.</a:t>
            </a:r>
          </a:p>
        </p:txBody>
      </p:sp>
      <p:pic>
        <p:nvPicPr>
          <p:cNvPr id="4" name="Picture 3">
            <a:extLst>
              <a:ext uri="{FF2B5EF4-FFF2-40B4-BE49-F238E27FC236}">
                <a16:creationId xmlns:a16="http://schemas.microsoft.com/office/drawing/2014/main" id="{A7C3D99F-4954-AEF5-B7A4-54F5FB61D4F8}"/>
              </a:ext>
            </a:extLst>
          </p:cNvPr>
          <p:cNvPicPr>
            <a:picLocks noChangeAspect="1"/>
          </p:cNvPicPr>
          <p:nvPr/>
        </p:nvPicPr>
        <p:blipFill>
          <a:blip r:embed="rId3"/>
          <a:srcRect l="610" t="1980"/>
          <a:stretch>
            <a:fillRect/>
          </a:stretch>
        </p:blipFill>
        <p:spPr>
          <a:xfrm>
            <a:off x="847164" y="1842247"/>
            <a:ext cx="7167283" cy="4177545"/>
          </a:xfrm>
          <a:prstGeom prst="rect">
            <a:avLst/>
          </a:prstGeom>
        </p:spPr>
      </p:pic>
    </p:spTree>
    <p:extLst>
      <p:ext uri="{BB962C8B-B14F-4D97-AF65-F5344CB8AC3E}">
        <p14:creationId xmlns:p14="http://schemas.microsoft.com/office/powerpoint/2010/main" val="1345055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0">
                                            <p:txEl>
                                              <p:pRg st="0" end="0"/>
                                            </p:txEl>
                                          </p:spTgt>
                                        </p:tgtEl>
                                        <p:attrNameLst>
                                          <p:attrName>style.visibility</p:attrName>
                                        </p:attrNameLst>
                                      </p:cBhvr>
                                      <p:to>
                                        <p:strVal val="visible"/>
                                      </p:to>
                                    </p:set>
                                    <p:animEffect transition="in" filter="fade">
                                      <p:cBhvr>
                                        <p:cTn id="14" dur="1000"/>
                                        <p:tgtEl>
                                          <p:spTgt spid="10">
                                            <p:txEl>
                                              <p:pRg st="0" end="0"/>
                                            </p:txEl>
                                          </p:spTgt>
                                        </p:tgtEl>
                                      </p:cBhvr>
                                    </p:animEffect>
                                    <p:anim calcmode="lin" valueType="num">
                                      <p:cBhvr>
                                        <p:cTn id="15"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2DAEFDB2-E9AE-5A87-3797-C1CECEBEB61A}"/>
              </a:ext>
            </a:extLst>
          </p:cNvPr>
          <p:cNvSpPr txBox="1"/>
          <p:nvPr/>
        </p:nvSpPr>
        <p:spPr>
          <a:xfrm>
            <a:off x="675958" y="1275371"/>
            <a:ext cx="6034124" cy="5016758"/>
          </a:xfrm>
          <a:prstGeom prst="rect">
            <a:avLst/>
          </a:prstGeom>
          <a:noFill/>
        </p:spPr>
        <p:txBody>
          <a:bodyPr wrap="square" rtlCol="0">
            <a:spAutoFit/>
          </a:bodyPr>
          <a:lstStyle/>
          <a:p>
            <a:pPr marL="285750" indent="-285750" algn="just">
              <a:buFont typeface="Wingdings" panose="05000000000000000000" pitchFamily="2" charset="2"/>
              <a:buChar char="§"/>
            </a:pPr>
            <a:r>
              <a:rPr lang="en-US" sz="2000" dirty="0"/>
              <a:t>Extend the dataset to multiple years to confirm whether these seasonal patterns hold consistently over time.</a:t>
            </a:r>
          </a:p>
          <a:p>
            <a:pPr marL="285750" indent="-285750" algn="just">
              <a:buFont typeface="Wingdings" panose="05000000000000000000" pitchFamily="2" charset="2"/>
              <a:buChar char="§"/>
            </a:pPr>
            <a:r>
              <a:rPr lang="en-US" sz="2000" dirty="0"/>
              <a:t>Study irrigation-conversion feasibility and cost for Zaid-season farms, especially in Gujarat and Andhra Pradesh.</a:t>
            </a:r>
          </a:p>
          <a:p>
            <a:pPr marL="285750" indent="-285750" algn="just">
              <a:buFont typeface="Wingdings" panose="05000000000000000000" pitchFamily="2" charset="2"/>
              <a:buChar char="§"/>
            </a:pPr>
            <a:r>
              <a:rPr lang="en-US" sz="2000" dirty="0"/>
              <a:t>Build a predictive model to estimate expected profit based on season, crop, and irrigation method.</a:t>
            </a:r>
          </a:p>
          <a:p>
            <a:pPr marL="285750" indent="-285750" algn="just">
              <a:buFont typeface="Wingdings" panose="05000000000000000000" pitchFamily="2" charset="2"/>
              <a:buChar char="§"/>
            </a:pPr>
            <a:r>
              <a:rPr lang="en-US" sz="2000" dirty="0"/>
              <a:t>Incorporate market price forecasting to strengthen revenue and profit predictions.</a:t>
            </a:r>
          </a:p>
          <a:p>
            <a:pPr marL="285750" indent="-285750" algn="just">
              <a:buFont typeface="Wingdings" panose="05000000000000000000" pitchFamily="2" charset="2"/>
              <a:buChar char="§"/>
            </a:pPr>
            <a:r>
              <a:rPr lang="en-US" sz="2000" dirty="0"/>
              <a:t>Extend the analysis to farm-size and soil-type factors to refine recommendations further.</a:t>
            </a:r>
          </a:p>
          <a:p>
            <a:pPr marL="285750" indent="-285750" algn="just">
              <a:buFont typeface="Wingdings" panose="05000000000000000000" pitchFamily="2" charset="2"/>
              <a:buChar char="§"/>
            </a:pPr>
            <a:r>
              <a:rPr lang="en-US" sz="2000" dirty="0"/>
              <a:t>Turn the analysis into an interactive dashboard for farmers and agricultural planners to use in real time.</a:t>
            </a:r>
            <a:endParaRPr lang="en-US" sz="2000" dirty="0">
              <a:effectLst/>
            </a:endParaRP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45EDD356-C584-FED8-BF2A-52A5C7A255F3}"/>
              </a:ext>
            </a:extLst>
          </p:cNvPr>
          <p:cNvSpPr txBox="1"/>
          <p:nvPr/>
        </p:nvSpPr>
        <p:spPr>
          <a:xfrm>
            <a:off x="779930" y="1285244"/>
            <a:ext cx="6104964" cy="646331"/>
          </a:xfrm>
          <a:prstGeom prst="rect">
            <a:avLst/>
          </a:prstGeom>
          <a:noFill/>
        </p:spPr>
        <p:txBody>
          <a:bodyPr wrap="square">
            <a:spAutoFit/>
          </a:bodyPr>
          <a:lstStyle/>
          <a:p>
            <a:r>
              <a:rPr lang="en-IN" dirty="0"/>
              <a:t>https://github.com/aakriti80043-create/Seasonal_Agriculture_Performance_Analysis.git</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9299B019-43F5-9F64-210F-187FCC1F95C9}"/>
              </a:ext>
            </a:extLst>
          </p:cNvPr>
          <p:cNvPicPr>
            <a:picLocks noChangeAspect="1"/>
          </p:cNvPicPr>
          <p:nvPr/>
        </p:nvPicPr>
        <p:blipFill>
          <a:blip r:embed="rId3"/>
          <a:stretch>
            <a:fillRect/>
          </a:stretch>
        </p:blipFill>
        <p:spPr>
          <a:xfrm>
            <a:off x="782847" y="1529012"/>
            <a:ext cx="8092212" cy="5039428"/>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316492" y="2216075"/>
            <a:ext cx="11340000" cy="1347814"/>
          </a:xfrm>
          <a:prstGeom prst="rect">
            <a:avLst/>
          </a:prstGeom>
        </p:spPr>
        <p:txBody>
          <a:bodyPr anchor="ctr">
            <a:normAutofit/>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Facet</Template>
  <TotalTime>1184</TotalTime>
  <Words>953</Words>
  <Application>Microsoft Office PowerPoint</Application>
  <PresentationFormat>Widescreen</PresentationFormat>
  <Paragraphs>62</Paragraphs>
  <Slides>16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Trebuchet MS</vt:lpstr>
      <vt:lpstr>Wingdings</vt:lpstr>
      <vt:lpstr>Wingdings 3</vt:lpstr>
      <vt:lpstr>Facet</vt:lpstr>
      <vt:lpstr>Project Title - Seasonal Agriculture Performance Analysis </vt:lpstr>
      <vt:lpstr>PROBLEM  STATEMENT</vt:lpstr>
      <vt:lpstr>Project Description  </vt:lpstr>
      <vt:lpstr>WHO ARE THE END USERS?</vt:lpstr>
      <vt:lpstr>Technology Used</vt:lpstr>
      <vt:lpstr>RESULTS : Seasonal Performance Comparison</vt:lpstr>
      <vt:lpstr>RESULTS : Correlation &amp; Multivariate Analysis </vt:lpstr>
      <vt:lpstr>RESULTS : Crop &amp; Season Profitability</vt:lpstr>
      <vt:lpstr>RESULTS : Irrigation Method Impact</vt:lpstr>
      <vt:lpstr>RESULTS :Regional, Risk &amp; Water-Efficiency Findings </vt:lpstr>
      <vt:lpstr>PowerPoint Presentation</vt:lpstr>
      <vt:lpstr>PowerPoint Presentation</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Aakriti Sharma</cp:lastModifiedBy>
  <cp:revision>104</cp:revision>
  <dcterms:created xsi:type="dcterms:W3CDTF">2021-07-11T13:13:15Z</dcterms:created>
  <dcterms:modified xsi:type="dcterms:W3CDTF">2026-09-10T12:22:08Z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